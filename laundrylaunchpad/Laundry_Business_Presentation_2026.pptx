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The Future of Dry Cleaning &amp; Laundry Business in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C8D2"/>
                </a:solidFill>
              </a:defRPr>
            </a:pPr>
            <a:r>
              <a:t>How modern drycleaners can attract more customers, increase repeat business, and scale with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EB783C"/>
                </a:solidFill>
              </a:defRPr>
            </a:pPr>
            <a:r>
              <a:t>Jodhpur | 28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Running a drycleaning business is getting harder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Customer expectations are rising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Competition is increasing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Manual operations break with growth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Repeat business is harder than it looks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Most stores still run without systems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Customer behavior has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Customers discover businesses online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They expect pickup and delivery convenience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They want order updates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They prefer digital payments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They reward consistency and speed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REALITY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Walk-ins are no longer a growth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Footfall is inconsistent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Referrals are slow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Competition is everywhere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Google presence influences trust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Visibility drives conversion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The winners will not always be cheaper — they will be more convenient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103120" cy="3200400"/>
          </a:xfrm>
          <a:prstGeom prst="round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Acquire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Customers better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645920"/>
            <a:ext cx="2103120" cy="3200400"/>
          </a:xfrm>
          <a:prstGeom prst="roundRect">
            <a:avLst/>
          </a:prstGeom>
          <a:solidFill>
            <a:srgbClr val="C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920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Customers faster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1645920"/>
            <a:ext cx="2103120" cy="3200400"/>
          </a:xfrm>
          <a:prstGeom prst="roundRect">
            <a:avLst/>
          </a:prstGeom>
          <a:solidFill>
            <a:srgbClr val="50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1920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Customers longer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0" y="1645920"/>
            <a:ext cx="2103120" cy="3200400"/>
          </a:xfrm>
          <a:prstGeom prst="roundRect">
            <a:avLst/>
          </a:prstGeom>
          <a:solidFill>
            <a:srgbClr val="6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0" y="1920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Collect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Payments smarter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0" y="1645920"/>
            <a:ext cx="2103120" cy="3200400"/>
          </a:xfrm>
          <a:prstGeom prst="roundRect">
            <a:avLst/>
          </a:prstGeom>
          <a:solidFill>
            <a:srgbClr val="96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24160" y="1920240"/>
            <a:ext cx="1737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265176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3291840"/>
            <a:ext cx="1737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FFFFFF"/>
                </a:solidFill>
              </a:defRPr>
            </a:pPr>
            <a:r>
              <a:t>With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ACQUISITION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More customers do not come by chance. They come by system.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Google visibility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Ratings and reviews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Meta ads / local promotion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WhatsApp enquiry response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Campaign-led acquisition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Follow-up discipline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Your next customer may discover you before they ever visit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Google search matters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Reviews build trust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Social proof improves conversion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Fast response wins leads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CONVENIENCE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Convenience is now part of the service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Customers value time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Pickup increases frequency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Delivery improves retention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Manual coordination creates chaos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OMNI-CHANNEL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Customers want to reach you from any channel — and get one seamless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Store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WhatsApp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Phone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Website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App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Payment link / QR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Updates build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Pickup confirmed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Garments received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Processing status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Ready for delivery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Payment pending / completed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RETENTION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Most drycleaners do not have a customer problem. They have a repeat-business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One-time orders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Weak follow-up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No return incentives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No visibility on drop-off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No habit-building system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Predictable revenue beats unpredictable footfall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Loyalty points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Prepaid packages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Subscription plans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Repeat campaigns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Win-back communication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PROOF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When repeat business is systemized, growth becomes easier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E"/>
                </a:solidFill>
              </a:defRPr>
            </a:pPr>
            <a:r>
              <a:t>When repeat business is systemized, growth becomes easier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28800"/>
            <a:ext cx="5029200" cy="3200400"/>
          </a:xfrm>
          <a:prstGeom prst="roundRect">
            <a:avLst/>
          </a:prstGeom>
          <a:solidFill>
            <a:srgbClr val="1E2D43"/>
          </a:solidFill>
          <a:ln w="27432">
            <a:solidFill>
              <a:srgbClr val="EB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EB783C"/>
                </a:solidFill>
              </a:defRPr>
            </a:pPr>
            <a:r>
              <a:t>Store A - Urban 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60320"/>
            <a:ext cx="4480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↑ 45% repeat orders in 6 months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↑ 60% pickup &amp; delivery adoption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↑ 30% faster payment collection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↓ 50% manual follow-up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5029200" cy="3200400"/>
          </a:xfrm>
          <a:prstGeom prst="roundRect">
            <a:avLst/>
          </a:prstGeom>
          <a:solidFill>
            <a:srgbClr val="1E2D43"/>
          </a:solidFill>
          <a:ln w="27432">
            <a:solidFill>
              <a:srgbClr val="C8A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44805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C8A050"/>
                </a:solidFill>
              </a:defRPr>
            </a:pPr>
            <a:r>
              <a:t>Multi-store B - 3 Locations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60320"/>
            <a:ext cx="44805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↑ 40% consolidated revenue growth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↑ 85% cross-store visibility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↑ 25% customer retention rate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↓ 70% reconciliation time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Revenue is not real until it is collected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Pending dues hurt cash flow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Manual follow-up is inconsistent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Payment links reduce friction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Faster collection improves business confidence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COLLECTION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Cash flow improves when payment follow-up becomes a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Automated reminders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Payment links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Store-wise visibility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Reconciliation support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Fewer missed payments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MULTI-STORE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Growth creates complexity faster than it creates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B783C"/>
                </a:solidFill>
              </a:defRPr>
            </a:pPr>
            <a:r>
              <a:t>Manual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Staff inconsistency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Weak process control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Fragmented customer history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Unreliable reporting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Poor visibility across outlets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A050"/>
                </a:solidFill>
              </a:defRPr>
            </a:pPr>
            <a:r>
              <a:t>Digital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Standardized workflows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Centralized control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Unified customer view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reporting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Full visibility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CENTRALIZED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Multi-store growth works only when control is centralized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Standard business rules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Central reporting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Access control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Offer / pricing consistency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Customer and order visibility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Better accountability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FRANCHISE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Strong operators can become strong brands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Expansion needs repeatability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Brands need standardization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Franchises need visibility and control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Systems make scale safer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FRANCHISE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Franchise growth fails when systems stay manual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HQ visibility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Store-level control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Standard service setup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Brand consistency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Royalty / payment discipline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Central reporting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The modern garment care business runs on 6 engines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2743200"/>
            <a:ext cx="2130552" cy="2130552"/>
          </a:xfrm>
          <a:prstGeom prst="ellipse">
            <a:avLst/>
          </a:prstGeom>
          <a:solidFill>
            <a:srgbClr val="EB783C"/>
          </a:solidFill>
          <a:ln w="457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3291840"/>
            <a:ext cx="2130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GROWTH</a:t>
            </a:r>
          </a:p>
        </p:txBody>
      </p:sp>
      <p:sp>
        <p:nvSpPr>
          <p:cNvPr id="7" name="Hexagon 6"/>
          <p:cNvSpPr/>
          <p:nvPr/>
        </p:nvSpPr>
        <p:spPr>
          <a:xfrm>
            <a:off x="2286000" y="1645920"/>
            <a:ext cx="1828800" cy="1371600"/>
          </a:xfrm>
          <a:prstGeom prst="hexagon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Customer Acquisition</a:t>
            </a:r>
          </a:p>
        </p:txBody>
      </p:sp>
      <p:sp>
        <p:nvSpPr>
          <p:cNvPr id="9" name="Hexagon 8"/>
          <p:cNvSpPr/>
          <p:nvPr/>
        </p:nvSpPr>
        <p:spPr>
          <a:xfrm>
            <a:off x="6217920" y="1645920"/>
            <a:ext cx="1828800" cy="1371600"/>
          </a:xfrm>
          <a:prstGeom prst="hexagon">
            <a:avLst/>
          </a:prstGeom>
          <a:solidFill>
            <a:srgbClr val="C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Pickup &amp; Delivery</a:t>
            </a:r>
          </a:p>
        </p:txBody>
      </p:sp>
      <p:sp>
        <p:nvSpPr>
          <p:cNvPr id="11" name="Hexagon 10"/>
          <p:cNvSpPr/>
          <p:nvPr/>
        </p:nvSpPr>
        <p:spPr>
          <a:xfrm>
            <a:off x="8686800" y="2743200"/>
            <a:ext cx="1828800" cy="1371600"/>
          </a:xfrm>
          <a:prstGeom prst="hexagon">
            <a:avLst/>
          </a:prstGeom>
          <a:solidFill>
            <a:srgbClr val="50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0" y="31089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Communication</a:t>
            </a:r>
          </a:p>
        </p:txBody>
      </p:sp>
      <p:sp>
        <p:nvSpPr>
          <p:cNvPr id="13" name="Hexagon 12"/>
          <p:cNvSpPr/>
          <p:nvPr/>
        </p:nvSpPr>
        <p:spPr>
          <a:xfrm>
            <a:off x="8686800" y="4572000"/>
            <a:ext cx="1828800" cy="1371600"/>
          </a:xfrm>
          <a:prstGeom prst="hexagon">
            <a:avLst/>
          </a:prstGeom>
          <a:solidFill>
            <a:srgbClr val="6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4937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Retention &amp; Loyalty</a:t>
            </a:r>
          </a:p>
        </p:txBody>
      </p:sp>
      <p:sp>
        <p:nvSpPr>
          <p:cNvPr id="15" name="Hexagon 14"/>
          <p:cNvSpPr/>
          <p:nvPr/>
        </p:nvSpPr>
        <p:spPr>
          <a:xfrm>
            <a:off x="6217920" y="5669280"/>
            <a:ext cx="1828800" cy="1371600"/>
          </a:xfrm>
          <a:prstGeom prst="hexagon">
            <a:avLst/>
          </a:prstGeom>
          <a:solidFill>
            <a:srgbClr val="96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603504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Payments &amp; Collections</a:t>
            </a:r>
          </a:p>
        </p:txBody>
      </p:sp>
      <p:sp>
        <p:nvSpPr>
          <p:cNvPr id="17" name="Hexagon 16"/>
          <p:cNvSpPr/>
          <p:nvPr/>
        </p:nvSpPr>
        <p:spPr>
          <a:xfrm>
            <a:off x="2286000" y="4572000"/>
            <a:ext cx="1828800" cy="1371600"/>
          </a:xfrm>
          <a:prstGeom prst="hexagon">
            <a:avLst/>
          </a:prstGeom>
          <a:solidFill>
            <a:srgbClr val="B4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77440" y="493776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Multi-store / Franchise Control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Manual effort cannot scale modern service expectations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EB783C"/>
                </a:solidFill>
              </a:defRPr>
            </a:pPr>
            <a:r>
              <a:t>Manual Chaos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Missed follow-ups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Delayed updates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Collection gaps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Store inconsistency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Weak reporting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Poor scale readiness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C8A050"/>
                </a:solidFill>
              </a:defRPr>
            </a:pPr>
            <a:r>
              <a:t>System-Led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Automated follow-ups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Real-time updates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Payment tracking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Consistent operations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Data-driven decisions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</a:defRPr>
            </a:pPr>
            <a:r>
              <a:t>• Scale-ready architecture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QDC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QDC helps drycleaners build a stronger business — not just run software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E"/>
                </a:solidFill>
              </a:defRPr>
            </a:pPr>
            <a:r>
              <a:t>QDC delivers measurable outcomes across every touchpoint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474720" cy="1645920"/>
          </a:xfrm>
          <a:prstGeom prst="roundRect">
            <a:avLst/>
          </a:prstGeom>
          <a:solidFill>
            <a:srgbClr val="1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783C"/>
                </a:solidFill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Better customer handling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BE"/>
                </a:solidFill>
              </a:defRPr>
            </a:pPr>
            <a:r>
              <a:t>Unified view across all channels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11735643520" y="2103120"/>
            <a:ext cx="3474720" cy="1645920"/>
          </a:xfrm>
          <a:prstGeom prst="roundRect">
            <a:avLst/>
          </a:prstGeom>
          <a:solidFill>
            <a:srgbClr val="1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173582640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783C"/>
                </a:solidFill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173582640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Pickup &amp; delivery coordination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173582640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BE"/>
                </a:solidFill>
              </a:defRPr>
            </a:pPr>
            <a:r>
              <a:t>End-to-end tracking &amp; routing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23470555520" y="2103120"/>
            <a:ext cx="3474720" cy="1645920"/>
          </a:xfrm>
          <a:prstGeom prst="roundRect">
            <a:avLst/>
          </a:prstGeom>
          <a:solidFill>
            <a:srgbClr val="1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23470738400" y="22860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783C"/>
                </a:solidFill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3470738400" y="2651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Repeat business &amp; loyalty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3470738400" y="310896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BE"/>
                </a:solidFill>
              </a:defRPr>
            </a:pPr>
            <a:r>
              <a:t>Automated campaigns &amp; rewards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114800"/>
            <a:ext cx="3474720" cy="1645920"/>
          </a:xfrm>
          <a:prstGeom prst="roundRect">
            <a:avLst/>
          </a:prstGeom>
          <a:solidFill>
            <a:srgbClr val="1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297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783C"/>
                </a:solidFill>
              </a:defRPr>
            </a:pPr>
            <a: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Faster payment collection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BE"/>
                </a:solidFill>
              </a:defRPr>
            </a:pPr>
            <a:r>
              <a:t>Links, reminders &amp; reconciliation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11735643520" y="4114800"/>
            <a:ext cx="3474720" cy="1645920"/>
          </a:xfrm>
          <a:prstGeom prst="roundRect">
            <a:avLst/>
          </a:prstGeom>
          <a:solidFill>
            <a:srgbClr val="1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11735826400" y="4297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783C"/>
                </a:solidFill>
              </a:defRPr>
            </a:pPr>
            <a: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1173582640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Multi-store visibility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11735826400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BE"/>
                </a:solidFill>
              </a:defRPr>
            </a:pPr>
            <a:r>
              <a:t>HQ-level oversight &amp; 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23470555520" y="4114800"/>
            <a:ext cx="3474720" cy="1645920"/>
          </a:xfrm>
          <a:prstGeom prst="roundRect">
            <a:avLst/>
          </a:prstGeom>
          <a:solidFill>
            <a:srgbClr val="1E2D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23470738400" y="42976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EB783C"/>
                </a:solidFill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3470738400" y="4663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Franchise-level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23470738400" y="5120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B4B4BE"/>
                </a:solidFill>
              </a:defRPr>
            </a:pPr>
            <a:r>
              <a:t>Standardization at scale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One connected platform for growth, service, and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B4B4BE"/>
                </a:solidFill>
              </a:defRPr>
            </a:pPr>
            <a:r>
              <a:t>One connected platform powering every aspect of your business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474720" cy="2011680"/>
          </a:xfrm>
          <a:prstGeom prst="round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Store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Order management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Garment tracking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Service catalog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11735643520" y="1737360"/>
            <a:ext cx="3474720" cy="2011680"/>
          </a:xfrm>
          <a:prstGeom prst="roundRect">
            <a:avLst/>
          </a:prstGeom>
          <a:solidFill>
            <a:srgbClr val="C8A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1173591784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Plant /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1735917840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Process workflows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Quality checks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Turnaround tracking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23470555520" y="1737360"/>
            <a:ext cx="3474720" cy="2011680"/>
          </a:xfrm>
          <a:prstGeom prst="roundRect">
            <a:avLst/>
          </a:prstGeom>
          <a:solidFill>
            <a:srgbClr val="5082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23470829840" y="201168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Customer Communication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3470829840" y="256032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WhatsApp integration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SMS updates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App notifications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3474720" cy="2011680"/>
          </a:xfrm>
          <a:prstGeom prst="roundRect">
            <a:avLst/>
          </a:prstGeom>
          <a:solidFill>
            <a:srgbClr val="64A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891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Payments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Payment links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UPI/QR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Pending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11735643520" y="4114800"/>
            <a:ext cx="3474720" cy="2011680"/>
          </a:xfrm>
          <a:prstGeom prst="roundRect">
            <a:avLst/>
          </a:prstGeom>
          <a:solidFill>
            <a:srgbClr val="966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11735917840" y="43891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Loyalty &amp;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1173591784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Points system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Packages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Campaigns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23470555520" y="4114800"/>
            <a:ext cx="3474720" cy="2011680"/>
          </a:xfrm>
          <a:prstGeom prst="roundRect">
            <a:avLst/>
          </a:prstGeom>
          <a:solidFill>
            <a:srgbClr val="B464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23470829840" y="43891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Multi-store Control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3470829840" y="493776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HQ dashboard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Store analytics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</a:defRPr>
            </a:pPr>
            <a:r>
              <a:t>• Access control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The next generation of drycleaning businesses will be built differently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More visible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More convenient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More systemized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More customer-driven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</a:defRPr>
            </a:pPr>
            <a:r>
              <a:t>• More scalable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B783C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72865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The right time to modernize is before growth exposes the gaps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3200400" cy="2560320"/>
          </a:xfrm>
          <a:prstGeom prst="roundRect">
            <a:avLst/>
          </a:prstGeom>
          <a:solidFill>
            <a:srgbClr val="F0F0F5"/>
          </a:solidFill>
          <a:ln w="27432">
            <a:solidFill>
              <a:srgbClr val="EB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514600" y="2103120"/>
            <a:ext cx="914400" cy="914400"/>
          </a:xfrm>
          <a:prstGeom prst="ellipse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Book a business consultation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3200400" cy="2560320"/>
          </a:xfrm>
          <a:prstGeom prst="roundRect">
            <a:avLst/>
          </a:prstGeom>
          <a:solidFill>
            <a:srgbClr val="F0F0F5"/>
          </a:solidFill>
          <a:ln w="27432">
            <a:solidFill>
              <a:srgbClr val="EB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172200" y="2103120"/>
            <a:ext cx="914400" cy="914400"/>
          </a:xfrm>
          <a:prstGeom prst="ellipse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Get a live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1828800"/>
            <a:ext cx="3200400" cy="2560320"/>
          </a:xfrm>
          <a:prstGeom prst="roundRect">
            <a:avLst/>
          </a:prstGeom>
          <a:solidFill>
            <a:srgbClr val="F0F0F5"/>
          </a:solidFill>
          <a:ln w="27432">
            <a:solidFill>
              <a:srgbClr val="EB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829800" y="2103120"/>
            <a:ext cx="914400" cy="914400"/>
          </a:xfrm>
          <a:prstGeom prst="ellipse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Discuss your growth plan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0" y="1828800"/>
            <a:ext cx="3200400" cy="2560320"/>
          </a:xfrm>
          <a:prstGeom prst="roundRect">
            <a:avLst/>
          </a:prstGeom>
          <a:solidFill>
            <a:srgbClr val="F0F0F5"/>
          </a:solidFill>
          <a:ln w="27432">
            <a:solidFill>
              <a:srgbClr val="EB78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3487400" y="2103120"/>
            <a:ext cx="914400" cy="914400"/>
          </a:xfrm>
          <a:prstGeom prst="ellipse">
            <a:avLst/>
          </a:prstGeom>
          <a:solidFill>
            <a:srgbClr val="EB7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618720" y="320040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192F"/>
                </a:solidFill>
              </a:defRPr>
            </a:pPr>
            <a:r>
              <a:t>Explore how QDC 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Visit our booth | Scan QR code | Talk to our team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